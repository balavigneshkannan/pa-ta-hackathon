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9bf7d0e02a44a6" /><Relationship Type="http://schemas.openxmlformats.org/officeDocument/2006/relationships/extended-properties" Target="/docProps/app.xml" Id="Rad5f1dfd9f2348e9" /><Relationship Type="http://schemas.openxmlformats.org/officeDocument/2006/relationships/officeDocument" Target="/ppt/presentation.xml" Id="R7ddb1f738d2d4d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dabb08cf714d8b"/>
  </p:sldMasterIdLst>
  <p:notesMasterIdLst>
    <p:notesMasterId xmlns:r="http://schemas.openxmlformats.org/officeDocument/2006/relationships" r:id="Redc1cd2cce6e40b4"/>
  </p:notesMasterIdLst>
  <p:sldIdLst>
    <p:sldId xmlns:r="http://schemas.openxmlformats.org/officeDocument/2006/relationships" id="256" r:id="R10868c4ab8134268"/>
    <p:sldId xmlns:r="http://schemas.openxmlformats.org/officeDocument/2006/relationships" id="257" r:id="R6c658b22c0e34d25"/>
    <p:sldId xmlns:r="http://schemas.openxmlformats.org/officeDocument/2006/relationships" id="258" r:id="R6bd215d824fd41b8"/>
    <p:sldId xmlns:r="http://schemas.openxmlformats.org/officeDocument/2006/relationships" id="259" r:id="R60efcb142aad4faa"/>
    <p:sldId xmlns:r="http://schemas.openxmlformats.org/officeDocument/2006/relationships" id="260" r:id="Rfedc22ea584e4b9b"/>
    <p:sldId xmlns:r="http://schemas.openxmlformats.org/officeDocument/2006/relationships" id="261" r:id="R9874072a8a56435b"/>
    <p:sldId xmlns:r="http://schemas.openxmlformats.org/officeDocument/2006/relationships" id="262" r:id="Re09d766293ce4322"/>
    <p:sldId xmlns:r="http://schemas.openxmlformats.org/officeDocument/2006/relationships" id="263" r:id="Rcf646e3df10447dc"/>
    <p:sldId xmlns:r="http://schemas.openxmlformats.org/officeDocument/2006/relationships" id="264" r:id="Rd7a81f1565a541ca"/>
    <p:sldId xmlns:r="http://schemas.openxmlformats.org/officeDocument/2006/relationships" id="265" r:id="R6d96ed8186734e4b"/>
    <p:sldId xmlns:r="http://schemas.openxmlformats.org/officeDocument/2006/relationships" id="266" r:id="Raa957a98bef74690"/>
    <p:sldId xmlns:r="http://schemas.openxmlformats.org/officeDocument/2006/relationships" id="267" r:id="R336cad9e2ded44c5"/>
    <p:sldId xmlns:r="http://schemas.openxmlformats.org/officeDocument/2006/relationships" id="268" r:id="Rca3f02a0128b4b7d"/>
    <p:sldId xmlns:r="http://schemas.openxmlformats.org/officeDocument/2006/relationships" id="269" r:id="R3108c07553904d01"/>
    <p:sldId xmlns:r="http://schemas.openxmlformats.org/officeDocument/2006/relationships" id="270" r:id="R3fb8f8e9d2a64b1e"/>
    <p:sldId xmlns:r="http://schemas.openxmlformats.org/officeDocument/2006/relationships" id="271" r:id="R7bf32af689824e3e"/>
    <p:sldId xmlns:r="http://schemas.openxmlformats.org/officeDocument/2006/relationships" id="272" r:id="Rfb299ae926e54c0f"/>
    <p:sldId xmlns:r="http://schemas.openxmlformats.org/officeDocument/2006/relationships" id="273" r:id="R0319e5e753bd4174"/>
    <p:sldId xmlns:r="http://schemas.openxmlformats.org/officeDocument/2006/relationships" id="274" r:id="Rbe5e3cf57e634345"/>
    <p:sldId xmlns:r="http://schemas.openxmlformats.org/officeDocument/2006/relationships" id="275" r:id="R3835cf30ac85422a"/>
    <p:sldId xmlns:r="http://schemas.openxmlformats.org/officeDocument/2006/relationships" id="276" r:id="R8571e9e425a44b66"/>
    <p:sldId xmlns:r="http://schemas.openxmlformats.org/officeDocument/2006/relationships" id="277" r:id="R8f53c7b2df5c4aa7"/>
    <p:sldId xmlns:r="http://schemas.openxmlformats.org/officeDocument/2006/relationships" id="278" r:id="R651f859b15f4469d"/>
    <p:sldId xmlns:r="http://schemas.openxmlformats.org/officeDocument/2006/relationships" id="279" r:id="Rdd33068683574812"/>
    <p:sldId xmlns:r="http://schemas.openxmlformats.org/officeDocument/2006/relationships" id="280" r:id="R3f8fae617d7f49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edd4e51ae74ca3" /><Relationship Type="http://schemas.openxmlformats.org/officeDocument/2006/relationships/slideMaster" Target="/ppt/slideMasters/slideMaster1.xml" Id="R7adabb08cf714d8b" /><Relationship Type="http://schemas.openxmlformats.org/officeDocument/2006/relationships/notesMaster" Target="/ppt/notesMasters/notesMaster1.xml" Id="Redc1cd2cce6e40b4" /><Relationship Type="http://schemas.openxmlformats.org/officeDocument/2006/relationships/presProps" Target="/ppt/presProps.xml" Id="Raf4eb06335644b49" /><Relationship Type="http://schemas.openxmlformats.org/officeDocument/2006/relationships/tableStyles" Target="/ppt/tableStyles.xml" Id="R7ebcac256665474f" /><Relationship Type="http://schemas.openxmlformats.org/officeDocument/2006/relationships/slide" Target="/ppt/slides/slide1.xml" Id="R10868c4ab8134268" /><Relationship Type="http://schemas.openxmlformats.org/officeDocument/2006/relationships/slide" Target="/ppt/slides/slide2.xml" Id="R6c658b22c0e34d25" /><Relationship Type="http://schemas.openxmlformats.org/officeDocument/2006/relationships/slide" Target="/ppt/slides/slide3.xml" Id="R6bd215d824fd41b8" /><Relationship Type="http://schemas.openxmlformats.org/officeDocument/2006/relationships/slide" Target="/ppt/slides/slide4.xml" Id="R60efcb142aad4faa" /><Relationship Type="http://schemas.openxmlformats.org/officeDocument/2006/relationships/slide" Target="/ppt/slides/slide5.xml" Id="Rfedc22ea584e4b9b" /><Relationship Type="http://schemas.openxmlformats.org/officeDocument/2006/relationships/slide" Target="/ppt/slides/slide6.xml" Id="R9874072a8a56435b" /><Relationship Type="http://schemas.openxmlformats.org/officeDocument/2006/relationships/slide" Target="/ppt/slides/slide7.xml" Id="Re09d766293ce4322" /><Relationship Type="http://schemas.openxmlformats.org/officeDocument/2006/relationships/slide" Target="/ppt/slides/slide8.xml" Id="Rcf646e3df10447dc" /><Relationship Type="http://schemas.openxmlformats.org/officeDocument/2006/relationships/slide" Target="/ppt/slides/slide9.xml" Id="Rd7a81f1565a541ca" /><Relationship Type="http://schemas.openxmlformats.org/officeDocument/2006/relationships/slide" Target="/ppt/slides/slide10.xml" Id="R6d96ed8186734e4b" /><Relationship Type="http://schemas.openxmlformats.org/officeDocument/2006/relationships/slide" Target="/ppt/slides/slide11.xml" Id="Raa957a98bef74690" /><Relationship Type="http://schemas.openxmlformats.org/officeDocument/2006/relationships/slide" Target="/ppt/slides/slide12.xml" Id="R336cad9e2ded44c5" /><Relationship Type="http://schemas.openxmlformats.org/officeDocument/2006/relationships/slide" Target="/ppt/slides/slide13.xml" Id="Rca3f02a0128b4b7d" /><Relationship Type="http://schemas.openxmlformats.org/officeDocument/2006/relationships/slide" Target="/ppt/slides/slide14.xml" Id="R3108c07553904d01" /><Relationship Type="http://schemas.openxmlformats.org/officeDocument/2006/relationships/slide" Target="/ppt/slides/slide15.xml" Id="R3fb8f8e9d2a64b1e" /><Relationship Type="http://schemas.openxmlformats.org/officeDocument/2006/relationships/slide" Target="/ppt/slides/slide16.xml" Id="R7bf32af689824e3e" /><Relationship Type="http://schemas.openxmlformats.org/officeDocument/2006/relationships/slide" Target="/ppt/slides/slide17.xml" Id="Rfb299ae926e54c0f" /><Relationship Type="http://schemas.openxmlformats.org/officeDocument/2006/relationships/slide" Target="/ppt/slides/slide18.xml" Id="R0319e5e753bd4174" /><Relationship Type="http://schemas.openxmlformats.org/officeDocument/2006/relationships/slide" Target="/ppt/slides/slide19.xml" Id="Rbe5e3cf57e634345" /><Relationship Type="http://schemas.openxmlformats.org/officeDocument/2006/relationships/slide" Target="/ppt/slides/slide20.xml" Id="R3835cf30ac85422a" /><Relationship Type="http://schemas.openxmlformats.org/officeDocument/2006/relationships/slide" Target="/ppt/slides/slide21.xml" Id="R8571e9e425a44b66" /><Relationship Type="http://schemas.openxmlformats.org/officeDocument/2006/relationships/slide" Target="/ppt/slides/slide22.xml" Id="R8f53c7b2df5c4aa7" /><Relationship Type="http://schemas.openxmlformats.org/officeDocument/2006/relationships/slide" Target="/ppt/slides/slide23.xml" Id="R651f859b15f4469d" /><Relationship Type="http://schemas.openxmlformats.org/officeDocument/2006/relationships/slide" Target="/ppt/slides/slide24.xml" Id="Rdd33068683574812" /><Relationship Type="http://schemas.openxmlformats.org/officeDocument/2006/relationships/slide" Target="/ppt/slides/slide25.xml" Id="R3f8fae617d7f49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073a4afceb44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afa9f4bc7244a0" /><Relationship Type="http://schemas.openxmlformats.org/officeDocument/2006/relationships/notesMaster" Target="/ppt/notesMasters/notesMaster1.xml" Id="R758b37ca70ac45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6292de1b80411b" /><Relationship Type="http://schemas.openxmlformats.org/officeDocument/2006/relationships/notesMaster" Target="/ppt/notesMasters/notesMaster1.xml" Id="R526c6620f7c145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49c22c67de4bb8" /><Relationship Type="http://schemas.openxmlformats.org/officeDocument/2006/relationships/notesMaster" Target="/ppt/notesMasters/notesMaster1.xml" Id="Rb62513a7d0dc42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449888e5194bd7" /><Relationship Type="http://schemas.openxmlformats.org/officeDocument/2006/relationships/notesMaster" Target="/ppt/notesMasters/notesMaster1.xml" Id="Rdf22f75af50243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82dd66e1ec4ea1" /><Relationship Type="http://schemas.openxmlformats.org/officeDocument/2006/relationships/notesMaster" Target="/ppt/notesMasters/notesMaster1.xml" Id="R5bad5501f35b4b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588d9b28364940" /><Relationship Type="http://schemas.openxmlformats.org/officeDocument/2006/relationships/notesMaster" Target="/ppt/notesMasters/notesMaster1.xml" Id="R126ad761331849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15a8836fdf437f" /><Relationship Type="http://schemas.openxmlformats.org/officeDocument/2006/relationships/notesMaster" Target="/ppt/notesMasters/notesMaster1.xml" Id="Rbe814392230041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f9321fe9134f53" /><Relationship Type="http://schemas.openxmlformats.org/officeDocument/2006/relationships/notesMaster" Target="/ppt/notesMasters/notesMaster1.xml" Id="R818156b79b9345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9c47ffb3964bc4" /><Relationship Type="http://schemas.openxmlformats.org/officeDocument/2006/relationships/notesMaster" Target="/ppt/notesMasters/notesMaster1.xml" Id="Raca476453bd64c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baddd76c6047f3" /><Relationship Type="http://schemas.openxmlformats.org/officeDocument/2006/relationships/notesMaster" Target="/ppt/notesMasters/notesMaster1.xml" Id="R5bfce2f99af24e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31072995e84564" /><Relationship Type="http://schemas.openxmlformats.org/officeDocument/2006/relationships/notesMaster" Target="/ppt/notesMasters/notesMaster1.xml" Id="R29d44f52e40c4c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d1212818394f14" /><Relationship Type="http://schemas.openxmlformats.org/officeDocument/2006/relationships/notesMaster" Target="/ppt/notesMasters/notesMaster1.xml" Id="R2963a7c669984d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fd4cb999674211" /><Relationship Type="http://schemas.openxmlformats.org/officeDocument/2006/relationships/notesMaster" Target="/ppt/notesMasters/notesMaster1.xml" Id="Rcac9ae9e723b44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2429c9114b4b1a" /><Relationship Type="http://schemas.openxmlformats.org/officeDocument/2006/relationships/notesMaster" Target="/ppt/notesMasters/notesMaster1.xml" Id="R7457030f379a4c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b667cb532f458a" /><Relationship Type="http://schemas.openxmlformats.org/officeDocument/2006/relationships/notesMaster" Target="/ppt/notesMasters/notesMaster1.xml" Id="R990c9c161b4746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abc799979142e8" /><Relationship Type="http://schemas.openxmlformats.org/officeDocument/2006/relationships/notesMaster" Target="/ppt/notesMasters/notesMaster1.xml" Id="R47ec039a321d4f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d607bee055469e" /><Relationship Type="http://schemas.openxmlformats.org/officeDocument/2006/relationships/notesMaster" Target="/ppt/notesMasters/notesMaster1.xml" Id="Rd713d8e7203e49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0a9e139a134b86" /><Relationship Type="http://schemas.openxmlformats.org/officeDocument/2006/relationships/notesMaster" Target="/ppt/notesMasters/notesMaster1.xml" Id="Ra6317f0c0ae74d3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04207129bce496b" /><Relationship Type="http://schemas.openxmlformats.org/officeDocument/2006/relationships/notesMaster" Target="/ppt/notesMasters/notesMaster1.xml" Id="Rf44a41576cef41c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5c6352aa254845" /><Relationship Type="http://schemas.openxmlformats.org/officeDocument/2006/relationships/notesMaster" Target="/ppt/notesMasters/notesMaster1.xml" Id="R50d269cf28ce45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9927936f885462b" /><Relationship Type="http://schemas.openxmlformats.org/officeDocument/2006/relationships/notesMaster" Target="/ppt/notesMasters/notesMaster1.xml" Id="Re015216208884b7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3b3c23648b4324" /><Relationship Type="http://schemas.openxmlformats.org/officeDocument/2006/relationships/notesMaster" Target="/ppt/notesMasters/notesMaster1.xml" Id="Rd73c0ef5484642a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0d091010491479d" /><Relationship Type="http://schemas.openxmlformats.org/officeDocument/2006/relationships/notesMaster" Target="/ppt/notesMasters/notesMaster1.xml" Id="R9214c5fb4658447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ddcadcf1e043ea" /><Relationship Type="http://schemas.openxmlformats.org/officeDocument/2006/relationships/notesMaster" Target="/ppt/notesMasters/notesMaster1.xml" Id="R4e52113780684d7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75ad062612d488e" /><Relationship Type="http://schemas.openxmlformats.org/officeDocument/2006/relationships/notesMaster" Target="/ppt/notesMasters/notesMaster1.xml" Id="Re47631609ed649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1</a:t>
            </a:r>
          </a:p>
          <a:p xmlns:a="http://schemas.openxmlformats.org/drawingml/2006/main">
            <a:r>
              <a:t>Video cue: 00:00 to 00:10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Professional and Teaching Assistant recruitment involves applications, academic checks, reviews, and final lists. Manual coordination makes this process harder to manage.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1. Project demonstration and technical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1</a:t>
            </a:r>
          </a:p>
          <a:p xmlns:a="http://schemas.openxmlformats.org/drawingml/2006/main">
            <a:r>
              <a:t>Video cue: 00:10 to 00:16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Our solution brings the complete workflow into one portal, from generated application forms to approved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2. Project demonstration and technical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1</a:t>
            </a:r>
          </a:p>
          <a:p xmlns:a="http://schemas.openxmlformats.org/drawingml/2006/main">
            <a:r>
              <a:t>Video cue: 00:16 to 00:24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Administrators configure and approve. Students apply and track progress. Faculty review candidates for their assigned courses.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3. Project demonstration and technical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1</a:t>
            </a:r>
          </a:p>
          <a:p xmlns:a="http://schemas.openxmlformats.org/drawingml/2006/main">
            <a:r>
              <a:t>Video cue: 00:24 to 00:30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Admin dashboard shows the active semester, application counts, filled positions, and vacancies.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4. Screen capture: admin.png.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1</a:t>
            </a:r>
          </a:p>
          <a:p xmlns:a="http://schemas.openxmlformats.org/drawingml/2006/main">
            <a:r>
              <a:t>Video cue: 00:30 to 00:36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Admin sets course slots, assistantship amounts, application dates, and course-head assignments.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5. Screen capture: allocations.png.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1</a:t>
            </a:r>
          </a:p>
          <a:p xmlns:a="http://schemas.openxmlformats.org/drawingml/2006/main">
            <a:r>
              <a:t>Video cue: 00:36 to 00:42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Publishing year, CGPA, grade, and interview rules generates the opportunities and forms.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6. Screen capture: rules.png.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2</a:t>
            </a:r>
          </a:p>
          <a:p xmlns:a="http://schemas.openxmlformats.org/drawingml/2006/main">
            <a:r>
              <a:t>Video cue: 00:42 to 00:47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student starts with a preloaded academic profile, reducing repeated data entry.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7. Screen capture: profile.png.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2</a:t>
            </a:r>
          </a:p>
          <a:p xmlns:a="http://schemas.openxmlformats.org/drawingml/2006/main">
            <a:r>
              <a:t>Video cue: 00:47 to 00:56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Opportunities show eligibility, available positions, requirements, and assistantship amounts. The backend rechecks eligibility before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8. Screen capture: opportunities.png.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2</a:t>
            </a:r>
          </a:p>
          <a:p xmlns:a="http://schemas.openxmlformats.org/drawingml/2006/main">
            <a:r>
              <a:t>Video cue: 00:56 to 01:02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form already contains academic details. The student only adds an optional 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9. Screen capture: form.png.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2</a:t>
            </a:r>
          </a:p>
          <a:p xmlns:a="http://schemas.openxmlformats.org/drawingml/2006/main">
            <a:r>
              <a:t>Video cue: 01:02 to 01:07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Here, two PA applications and one TA application are submitted and tracked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10. Screen capture: applications.png.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2</a:t>
            </a:r>
          </a:p>
          <a:p xmlns:a="http://schemas.openxmlformats.org/drawingml/2006/main">
            <a:r>
              <a:t>Video cue: 01:07 to 01:13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Faculty can access only their assigned active-semester course. Let us follow the review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11. Screen capture: faculty-access.png.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3</a:t>
            </a:r>
          </a:p>
          <a:p xmlns:a="http://schemas.openxmlformats.org/drawingml/2006/main">
            <a:r>
              <a:t>Video cue: 01:13 to 01:20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Faculty inspect the submitted academics, statement, and timetable. Private notes support their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12. Screen capture: candidate.png.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3</a:t>
            </a:r>
          </a:p>
          <a:p xmlns:a="http://schemas.openxmlformats.org/drawingml/2006/main">
            <a:r>
              <a:t>Video cue: 01:20 to 01:26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candidate is shortlisted and selected. Capacity checks prevent the course from being overfilled.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13. Screen capture: shortlist.png.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3</a:t>
            </a:r>
          </a:p>
          <a:p xmlns:a="http://schemas.openxmlformats.org/drawingml/2006/main">
            <a:r>
              <a:t>Video cue: 01:26 to 01:31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Accepting the PA appointment automatically cancels other pending applications for the same 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14. Screen capture: accepted.png.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3</a:t>
            </a:r>
          </a:p>
          <a:p xmlns:a="http://schemas.openxmlformats.org/drawingml/2006/main">
            <a:r>
              <a:t>Video cue: 01:31 to 01:37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the interview-required TA role, faculty schedule an interview with its time and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15. Screen capture: interview.png.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3</a:t>
            </a:r>
          </a:p>
          <a:p xmlns:a="http://schemas.openxmlformats.org/drawingml/2006/main">
            <a:r>
              <a:t>Video cue: 01:37 to 01:42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evaluation must be recorded before selection. The TA appointment is then accepted.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16. Screen capture: evaluation.png.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3</a:t>
            </a:r>
          </a:p>
          <a:p xmlns:a="http://schemas.openxmlformats.org/drawingml/2006/main">
            <a:r>
              <a:t>Video cue: 01:42 to 01:48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One student may hold one PA and one TA. Faculty submit both appointments to Admin.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17. Screen capture: submission.png.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4</a:t>
            </a:r>
          </a:p>
          <a:p xmlns:a="http://schemas.openxmlformats.org/drawingml/2006/main">
            <a:r>
              <a:t>Video cue: 01:48 to 01:54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Admin reviews submitted appointments and conflicts, then finalizes the semester, locking the approved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18. Screen capture: approval.png.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4</a:t>
            </a:r>
          </a:p>
          <a:p xmlns:a="http://schemas.openxmlformats.org/drawingml/2006/main">
            <a:r>
              <a:t>Video cue: 01:54 to 02:00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final selected list is generated automatically and can be downloaded as Excel or 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19. Screen capture: final-list.png.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4</a:t>
            </a:r>
          </a:p>
          <a:p xmlns:a="http://schemas.openxmlformats.org/drawingml/2006/main">
            <a:r>
              <a:t>Video cue: 02:00 to 02:06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student can see the other PA application automatically cancelled, with both accepted roles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20. Screen capture: auto-cancel.png.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4</a:t>
            </a:r>
          </a:p>
          <a:p xmlns:a="http://schemas.openxmlformats.org/drawingml/2006/main">
            <a:r>
              <a:t>Video cue: 02:06 to 02:10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Personal final results show only that student's approved appointments and amounts.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21. Screen capture: student-results.png. Synthetic demo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4</a:t>
            </a:r>
          </a:p>
          <a:p xmlns:a="http://schemas.openxmlformats.org/drawingml/2006/main">
            <a:r>
              <a:t>Video cue: 02:10 to 02:20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React and Vite provide the frontend. Express enforces access and workflow rules. PostgreSQL transactions protect appointments; local mode uses PGlite.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22. Project demonstration and technical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4</a:t>
            </a:r>
          </a:p>
          <a:p xmlns:a="http://schemas.openxmlformats.org/drawingml/2006/main">
            <a:r>
              <a:t>Video cue: 02:20 to 02:28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Revocable sessions protect access. An optional signed intranet interface supports institutional identity and academic synchronization.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23. Project demonstration and technical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4</a:t>
            </a:r>
          </a:p>
          <a:p xmlns:a="http://schemas.openxmlformats.org/drawingml/2006/main">
            <a:r>
              <a:t>Video cue: 02:28 to 02:35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expected impact is less manual entry, organized reviews, clearer status tracking, and auditable final lists.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24. Project demonstration and technical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4</a:t>
            </a:r>
          </a:p>
          <a:p xmlns:a="http://schemas.openxmlformats.org/drawingml/2006/main">
            <a:r>
              <a:t>Video cue: 02:35 to 02:45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demonstration uses synthetic data. Real university sign-in and production hosting remain to configure; duty timetable-overlap detection is a future extension.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revised PA-TA-Demo.mp4 scene 25. Project demonstration and technical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fc4c5a69f4f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f48ad188d34878" /><Relationship Type="http://schemas.openxmlformats.org/officeDocument/2006/relationships/slideLayout" Target="/ppt/slideLayouts/slideLayout1.xml" Id="R2727a3b0a3b74b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27a3b0a3b74b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1e84be7834aa7" /><Relationship Type="http://schemas.openxmlformats.org/officeDocument/2006/relationships/notesSlide" Target="/ppt/notesSlides/notesSlide1.xml" Id="R082f3845effc41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fcfdedd1e4ae5" /><Relationship Type="http://schemas.openxmlformats.org/officeDocument/2006/relationships/notesSlide" Target="/ppt/notesSlides/notesSlide2.xml" Id="R9ceea2f9a23049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696d6d34d4891" /><Relationship Type="http://schemas.openxmlformats.org/officeDocument/2006/relationships/notesSlide" Target="/ppt/notesSlides/notesSlide3.xml" Id="R1ba1a6450fde4d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4506e612549c5" /><Relationship Type="http://schemas.openxmlformats.org/officeDocument/2006/relationships/image" Target="/ppt/media/image.jpeg" Id="R30cdeb015b6c48c3" /><Relationship Type="http://schemas.openxmlformats.org/officeDocument/2006/relationships/notesSlide" Target="/ppt/notesSlides/notesSlide4.xml" Id="R6d14ad8ab74a45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db77ea90e4038" /><Relationship Type="http://schemas.openxmlformats.org/officeDocument/2006/relationships/image" Target="/ppt/media/image2.jpeg" Id="Re65680b26ffa4066" /><Relationship Type="http://schemas.openxmlformats.org/officeDocument/2006/relationships/notesSlide" Target="/ppt/notesSlides/notesSlide5.xml" Id="R7a47a79a227741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c3c311c5c493f" /><Relationship Type="http://schemas.openxmlformats.org/officeDocument/2006/relationships/image" Target="/ppt/media/image3.jpeg" Id="R24677bf860344a10" /><Relationship Type="http://schemas.openxmlformats.org/officeDocument/2006/relationships/notesSlide" Target="/ppt/notesSlides/notesSlide6.xml" Id="Ra512c1ed8c6447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9393da48547fa" /><Relationship Type="http://schemas.openxmlformats.org/officeDocument/2006/relationships/image" Target="/ppt/media/image4.jpeg" Id="Rb30b91149c6640a3" /><Relationship Type="http://schemas.openxmlformats.org/officeDocument/2006/relationships/notesSlide" Target="/ppt/notesSlides/notesSlide7.xml" Id="Rf2881a5e76fe4d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87485f1b14b62" /><Relationship Type="http://schemas.openxmlformats.org/officeDocument/2006/relationships/image" Target="/ppt/media/image5.jpeg" Id="R09330970c03c4e42" /><Relationship Type="http://schemas.openxmlformats.org/officeDocument/2006/relationships/notesSlide" Target="/ppt/notesSlides/notesSlide8.xml" Id="Ra386c2791d714a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6612f0d0044cd" /><Relationship Type="http://schemas.openxmlformats.org/officeDocument/2006/relationships/image" Target="/ppt/media/image6.jpeg" Id="R556093a3a8e24f45" /><Relationship Type="http://schemas.openxmlformats.org/officeDocument/2006/relationships/notesSlide" Target="/ppt/notesSlides/notesSlide9.xml" Id="R7dc531852d0f4d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19196223c440e" /><Relationship Type="http://schemas.openxmlformats.org/officeDocument/2006/relationships/image" Target="/ppt/media/image7.jpeg" Id="R63ae1d2ee9354c97" /><Relationship Type="http://schemas.openxmlformats.org/officeDocument/2006/relationships/notesSlide" Target="/ppt/notesSlides/notesSlide10.xml" Id="Rf144d3ba7fa942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5e2c465e741ff" /><Relationship Type="http://schemas.openxmlformats.org/officeDocument/2006/relationships/image" Target="/ppt/media/image8.jpeg" Id="R8206527f6f65474f" /><Relationship Type="http://schemas.openxmlformats.org/officeDocument/2006/relationships/notesSlide" Target="/ppt/notesSlides/notesSlide11.xml" Id="R2c2395fc69f746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3e593cb1444f2" /><Relationship Type="http://schemas.openxmlformats.org/officeDocument/2006/relationships/image" Target="/ppt/media/image9.jpeg" Id="R16809138c82d4cc3" /><Relationship Type="http://schemas.openxmlformats.org/officeDocument/2006/relationships/notesSlide" Target="/ppt/notesSlides/notesSlide12.xml" Id="R7da0f2dc5a474d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2637575bb4991" /><Relationship Type="http://schemas.openxmlformats.org/officeDocument/2006/relationships/image" Target="/ppt/media/image10.jpeg" Id="R2c7ef5f0af134b65" /><Relationship Type="http://schemas.openxmlformats.org/officeDocument/2006/relationships/notesSlide" Target="/ppt/notesSlides/notesSlide13.xml" Id="R03c30de292254c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fe3adcdcb4864" /><Relationship Type="http://schemas.openxmlformats.org/officeDocument/2006/relationships/image" Target="/ppt/media/image11.jpeg" Id="Rd3ca15ef4a054d5d" /><Relationship Type="http://schemas.openxmlformats.org/officeDocument/2006/relationships/notesSlide" Target="/ppt/notesSlides/notesSlide14.xml" Id="R738d6f44cb1c4a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109e216224675" /><Relationship Type="http://schemas.openxmlformats.org/officeDocument/2006/relationships/image" Target="/ppt/media/image12.jpeg" Id="R846b0dc8b4e74c25" /><Relationship Type="http://schemas.openxmlformats.org/officeDocument/2006/relationships/notesSlide" Target="/ppt/notesSlides/notesSlide15.xml" Id="R9c8b81937ed643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52feaab6d4b9c" /><Relationship Type="http://schemas.openxmlformats.org/officeDocument/2006/relationships/image" Target="/ppt/media/image13.jpeg" Id="Rf4b2807824354dbf" /><Relationship Type="http://schemas.openxmlformats.org/officeDocument/2006/relationships/notesSlide" Target="/ppt/notesSlides/notesSlide16.xml" Id="Rcdf1b588934b4f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34080e2a748af" /><Relationship Type="http://schemas.openxmlformats.org/officeDocument/2006/relationships/image" Target="/ppt/media/image14.jpeg" Id="R920b4972d5554c1d" /><Relationship Type="http://schemas.openxmlformats.org/officeDocument/2006/relationships/notesSlide" Target="/ppt/notesSlides/notesSlide17.xml" Id="R80a7a8d73f184c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32fdb800a45d2" /><Relationship Type="http://schemas.openxmlformats.org/officeDocument/2006/relationships/image" Target="/ppt/media/image15.jpeg" Id="R94972807bd7c4bb7" /><Relationship Type="http://schemas.openxmlformats.org/officeDocument/2006/relationships/notesSlide" Target="/ppt/notesSlides/notesSlide18.xml" Id="Rd8f43085f8284c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53cdbc2204e7c" /><Relationship Type="http://schemas.openxmlformats.org/officeDocument/2006/relationships/image" Target="/ppt/media/image16.jpeg" Id="Re9e7254bcf774dfe" /><Relationship Type="http://schemas.openxmlformats.org/officeDocument/2006/relationships/notesSlide" Target="/ppt/notesSlides/notesSlide19.xml" Id="Re1408f38f7b14e0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eb694a2b14e89" /><Relationship Type="http://schemas.openxmlformats.org/officeDocument/2006/relationships/image" Target="/ppt/media/image17.jpeg" Id="R4b567f6f536f45df" /><Relationship Type="http://schemas.openxmlformats.org/officeDocument/2006/relationships/notesSlide" Target="/ppt/notesSlides/notesSlide20.xml" Id="R8f52b77533bb4b9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0ae2bafdc44ab" /><Relationship Type="http://schemas.openxmlformats.org/officeDocument/2006/relationships/image" Target="/ppt/media/image18.jpeg" Id="Rb9b2e77396434c01" /><Relationship Type="http://schemas.openxmlformats.org/officeDocument/2006/relationships/notesSlide" Target="/ppt/notesSlides/notesSlide21.xml" Id="R3646c6535577412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0811bed3e4535" /><Relationship Type="http://schemas.openxmlformats.org/officeDocument/2006/relationships/notesSlide" Target="/ppt/notesSlides/notesSlide22.xml" Id="R560f3798468149f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c127117744646" /><Relationship Type="http://schemas.openxmlformats.org/officeDocument/2006/relationships/notesSlide" Target="/ppt/notesSlides/notesSlide23.xml" Id="Rf251f2464e0f442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baa82a0b04094" /><Relationship Type="http://schemas.openxmlformats.org/officeDocument/2006/relationships/notesSlide" Target="/ppt/notesSlides/notesSlide24.xml" Id="R3f4c6011def84f8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b43af80654d24" /><Relationship Type="http://schemas.openxmlformats.org/officeDocument/2006/relationships/notesSlide" Target="/ppt/notesSlides/notesSlide25.xml" Id="R90d66eb039994d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apter">
            <a:extLst xmlns:a="http://schemas.openxmlformats.org/drawingml/2006/main">
              <a:ext uri="{FF2B5EF4-FFF2-40B4-BE49-F238E27FC236}">
                <a16:creationId xmlns:a16="http://schemas.microsoft.com/office/drawing/2014/main" id="{F16B7951-4AE5-4893-A10C-95888D3B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PROBLEM + SOLUTION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37AA95CD-CE3A-4990-B7EB-84530713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1</a:t>
            </a:r>
          </a:p>
        </p:txBody>
      </p:sp>
      <p:sp>
        <p:nvSpPr>
          <p:cNvPr id="3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7856EB33-E833-401C-837E-D008F40C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 &amp; TA</a:t>
            </a:r>
          </a:p>
        </p:txBody>
      </p:sp>
      <p:sp>
        <p:nvSpPr>
          <p:cNvPr id="4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8EC4D699-B1D0-437B-8295-53C4BD77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Application Automation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F814570-731C-454B-A7DF-08F72010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Professional and Teaching Assistantships</a:t>
            </a:r>
          </a:p>
        </p:txBody>
      </p:sp>
      <p:sp>
        <p:nvSpPr>
          <p:cNvPr id="6" name="cover-scope">
            <a:extLst xmlns:a="http://schemas.openxmlformats.org/drawingml/2006/main">
              <a:ext uri="{FF2B5EF4-FFF2-40B4-BE49-F238E27FC236}">
                <a16:creationId xmlns:a16="http://schemas.microsoft.com/office/drawing/2014/main" id="{FB6A06A6-2507-44A4-B85A-0C592DE8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Academic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1399790944"/>
      </p:ext>
    </p:extLst>
  </p:cSld>
  <p:transition advClick="1" advTm="10367"/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hapter">
            <a:extLst xmlns:a="http://schemas.openxmlformats.org/drawingml/2006/main">
              <a:ext uri="{FF2B5EF4-FFF2-40B4-BE49-F238E27FC236}">
                <a16:creationId xmlns:a16="http://schemas.microsoft.com/office/drawing/2014/main" id="{8BE7FAE9-4D39-4343-A3DD-C19CE5BB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PROBLEM + SOLUTION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488A7591-79C5-4747-BEAC-1595FBD1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8CCC7-C8AD-4E95-88D7-301E2570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 workflow</a:t>
            </a:r>
          </a:p>
        </p:txBody>
      </p:sp>
      <p:sp>
        <p:nvSpPr>
          <p:cNvPr id="4" name="Manual coordination-heading">
            <a:extLst xmlns:a="http://schemas.openxmlformats.org/drawingml/2006/main">
              <a:ext uri="{FF2B5EF4-FFF2-40B4-BE49-F238E27FC236}">
                <a16:creationId xmlns:a16="http://schemas.microsoft.com/office/drawing/2014/main" id="{5F99DA63-E294-485C-9340-8F2105AF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Manual coordination</a:t>
            </a:r>
          </a:p>
        </p:txBody>
      </p:sp>
      <p:sp>
        <p:nvSpPr>
          <p:cNvPr id="5" name="Manual coordination-body">
            <a:extLst xmlns:a="http://schemas.openxmlformats.org/drawingml/2006/main">
              <a:ext uri="{FF2B5EF4-FFF2-40B4-BE49-F238E27FC236}">
                <a16:creationId xmlns:a16="http://schemas.microsoft.com/office/drawing/2014/main" id="{EF26D1D4-AE98-4290-BE30-AC4742DF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 collection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Academic checks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 review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selection lists</a:t>
            </a:r>
          </a:p>
        </p:txBody>
      </p:sp>
      <p:sp>
        <p:nvSpPr>
          <p:cNvPr id="6" name="Proposed portal-heading">
            <a:extLst xmlns:a="http://schemas.openxmlformats.org/drawingml/2006/main">
              <a:ext uri="{FF2B5EF4-FFF2-40B4-BE49-F238E27FC236}">
                <a16:creationId xmlns:a16="http://schemas.microsoft.com/office/drawing/2014/main" id="{EC3AB4EA-D9C8-46B7-8601-CE6B590B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Proposed portal</a:t>
            </a:r>
          </a:p>
        </p:txBody>
      </p:sp>
      <p:sp>
        <p:nvSpPr>
          <p:cNvPr id="7" name="Proposed portal-body">
            <a:extLst xmlns:a="http://schemas.openxmlformats.org/drawingml/2006/main">
              <a:ext uri="{FF2B5EF4-FFF2-40B4-BE49-F238E27FC236}">
                <a16:creationId xmlns:a16="http://schemas.microsoft.com/office/drawing/2014/main" id="{06A677F1-45C2-4716-AE9D-43849D9A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3370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Generated application forms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Eligibility checks at submission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Assigned faculty reviews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Approved results and exports</a:t>
            </a:r>
          </a:p>
        </p:txBody>
      </p:sp>
    </p:spTree>
    <p:extLst>
      <p:ext uri="{BB962C8B-B14F-4D97-AF65-F5344CB8AC3E}">
        <p14:creationId xmlns:p14="http://schemas.microsoft.com/office/powerpoint/2010/main" val="1857131197"/>
      </p:ext>
    </p:extLst>
  </p:cSld>
  <p:transition advClick="1" advTm="6333"/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D34D3EBE-D55B-4901-A530-ED29DFBC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USERS + USAGE FLOW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B39B30F1-FDD0-4884-BB41-2682AD49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E3E5BE-FA97-44B9-A188-6E166367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Users and responsibilities</a:t>
            </a:r>
          </a:p>
        </p:txBody>
      </p:sp>
      <p:sp>
        <p:nvSpPr>
          <p:cNvPr id="4" name="Admin-heading">
            <a:extLst xmlns:a="http://schemas.openxmlformats.org/drawingml/2006/main">
              <a:ext uri="{FF2B5EF4-FFF2-40B4-BE49-F238E27FC236}">
                <a16:creationId xmlns:a16="http://schemas.microsoft.com/office/drawing/2014/main" id="{64C8BA4C-117A-455D-AE4B-A93422CC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5" name="Admin-body">
            <a:extLst xmlns:a="http://schemas.openxmlformats.org/drawingml/2006/main">
              <a:ext uri="{FF2B5EF4-FFF2-40B4-BE49-F238E27FC236}">
                <a16:creationId xmlns:a16="http://schemas.microsoft.com/office/drawing/2014/main" id="{DD418277-19B8-45B5-AD1F-C62F7481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Configures the semester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Sets rules and positions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Approves final results</a:t>
            </a:r>
          </a:p>
        </p:txBody>
      </p:sp>
      <p:sp>
        <p:nvSpPr>
          <p:cNvPr id="6" name="Student-heading">
            <a:extLst xmlns:a="http://schemas.openxmlformats.org/drawingml/2006/main">
              <a:ext uri="{FF2B5EF4-FFF2-40B4-BE49-F238E27FC236}">
                <a16:creationId xmlns:a16="http://schemas.microsoft.com/office/drawing/2014/main" id="{03218B61-95D8-4D1C-94F1-4ED2A72A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7" name="Student-body">
            <a:extLst xmlns:a="http://schemas.openxmlformats.org/drawingml/2006/main">
              <a:ext uri="{FF2B5EF4-FFF2-40B4-BE49-F238E27FC236}">
                <a16:creationId xmlns:a16="http://schemas.microsoft.com/office/drawing/2014/main" id="{5F9AEA0B-3F74-466C-9C20-084BD258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24200"/>
            <a:ext cx="2952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Applies using academic data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Tracks application status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Views approved results</a:t>
            </a:r>
          </a:p>
        </p:txBody>
      </p:sp>
      <p:sp>
        <p:nvSpPr>
          <p:cNvPr id="8" name="Faculty-heading">
            <a:extLst xmlns:a="http://schemas.openxmlformats.org/drawingml/2006/main">
              <a:ext uri="{FF2B5EF4-FFF2-40B4-BE49-F238E27FC236}">
                <a16:creationId xmlns:a16="http://schemas.microsoft.com/office/drawing/2014/main" id="{014891BB-14D9-4E1C-8CCF-52F9055F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Faculty</a:t>
            </a:r>
          </a:p>
        </p:txBody>
      </p:sp>
      <p:sp>
        <p:nvSpPr>
          <p:cNvPr id="9" name="Faculty-body">
            <a:extLst xmlns:a="http://schemas.openxmlformats.org/drawingml/2006/main">
              <a:ext uri="{FF2B5EF4-FFF2-40B4-BE49-F238E27FC236}">
                <a16:creationId xmlns:a16="http://schemas.microsoft.com/office/drawing/2014/main" id="{5EC16191-83F5-43DA-918F-1500E032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24200"/>
            <a:ext cx="314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Reviews assigned courses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Shortlists candidates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Submits selections</a:t>
            </a:r>
          </a:p>
        </p:txBody>
      </p:sp>
    </p:spTree>
    <p:extLst>
      <p:ext uri="{BB962C8B-B14F-4D97-AF65-F5344CB8AC3E}">
        <p14:creationId xmlns:p14="http://schemas.microsoft.com/office/powerpoint/2010/main" val="213066594"/>
      </p:ext>
    </p:extLst>
  </p:cSld>
  <p:transition advClick="1" advTm="7967"/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D903703F-5D2C-4CAC-963A-90EFCFCD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ADMIN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71C441E9-22DF-4CA1-82AE-4BE3C6B8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9B15AA-896B-4192-A393-AF4BCFAC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Active semester dashboard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deb015b6c48c3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BAC83C31-4805-4A9B-B301-E6E8D6FA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Live application counts, allocated positions, and vacancies</a:t>
            </a:r>
          </a:p>
        </p:txBody>
      </p:sp>
    </p:spTree>
    <p:extLst>
      <p:ext uri="{BB962C8B-B14F-4D97-AF65-F5344CB8AC3E}">
        <p14:creationId xmlns:p14="http://schemas.microsoft.com/office/powerpoint/2010/main" val="551440773"/>
      </p:ext>
    </p:extLst>
  </p:cSld>
  <p:transition advClick="1" advTm="5900"/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5E51D9F1-9878-4434-BD29-2C64675E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ADMIN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E1BDE26A-2DFB-413E-9691-1FB722EA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F372FC-252D-4EAF-8B79-B27B1A0B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Positions, amounts and application dates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680b26ffa4066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3FB4C603-C738-447D-B329-87FA5FDD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Separate PA/TA slots and amounts, with one application window</a:t>
            </a:r>
          </a:p>
        </p:txBody>
      </p:sp>
    </p:spTree>
    <p:extLst>
      <p:ext uri="{BB962C8B-B14F-4D97-AF65-F5344CB8AC3E}">
        <p14:creationId xmlns:p14="http://schemas.microsoft.com/office/powerpoint/2010/main" val="1842150274"/>
      </p:ext>
    </p:extLst>
  </p:cSld>
  <p:transition advClick="1" advTm="5700"/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53C87F18-26C0-4FB3-9604-AC0D8EB0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ADMIN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73F03E37-BF31-4BAB-93AE-439564DA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10D913-DEF3-4244-BC87-5DAE2CA7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Eligibility rules and generated forms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77bf860344a10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C99E25DE-E2F5-41F0-AFA0-0D3C3400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Year, CGPA, course grade, and interview rules drive eligibility</a:t>
            </a:r>
          </a:p>
        </p:txBody>
      </p:sp>
    </p:spTree>
    <p:extLst>
      <p:ext uri="{BB962C8B-B14F-4D97-AF65-F5344CB8AC3E}">
        <p14:creationId xmlns:p14="http://schemas.microsoft.com/office/powerpoint/2010/main" val="642210006"/>
      </p:ext>
    </p:extLst>
  </p:cSld>
  <p:transition advClick="1" advTm="6533"/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6AA4BA55-69E4-45B0-9592-7A2FBBD8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STUDENT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2C45C9B0-4A4E-4A52-AC79-F1170659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C95219-F6B5-4BBB-A844-58046D49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academic profile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b91149c6640a3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C2130DA9-D802-45DD-AEE3-D7361802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Academic information is preloaded and read-only</a:t>
            </a:r>
          </a:p>
        </p:txBody>
      </p:sp>
    </p:spTree>
    <p:extLst>
      <p:ext uri="{BB962C8B-B14F-4D97-AF65-F5344CB8AC3E}">
        <p14:creationId xmlns:p14="http://schemas.microsoft.com/office/powerpoint/2010/main" val="824017140"/>
      </p:ext>
    </p:extLst>
  </p:cSld>
  <p:transition advClick="1" advTm="5100"/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6A3101FD-7890-480A-A8CF-FDB8C124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STUDENT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80100DB6-7E39-453A-B193-28F5D8FA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F38047-7A15-4C02-8BD4-EDECCB9D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 and TA opportunities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30970c03c4e42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F37C8459-2582-4DE2-B957-F0B7C6FE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Availability, requirements, amount, and eligibility appear together</a:t>
            </a:r>
          </a:p>
        </p:txBody>
      </p:sp>
    </p:spTree>
    <p:extLst>
      <p:ext uri="{BB962C8B-B14F-4D97-AF65-F5344CB8AC3E}">
        <p14:creationId xmlns:p14="http://schemas.microsoft.com/office/powerpoint/2010/main" val="453316888"/>
      </p:ext>
    </p:extLst>
  </p:cSld>
  <p:transition advClick="1" advTm="8333"/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5CDDC52D-6C8E-41A3-A841-B2F464A6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STUDENT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BB497891-0C41-4047-AAD1-266B6A76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934C2B-AD1B-4DB1-86AF-F1DD4FD8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Prefilled application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093a3a8e24f45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6DB733E9-4F58-4D3A-AA92-4CA19D30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An optional statement adds context without retyping academics</a:t>
            </a:r>
          </a:p>
        </p:txBody>
      </p:sp>
    </p:spTree>
    <p:extLst>
      <p:ext uri="{BB962C8B-B14F-4D97-AF65-F5344CB8AC3E}">
        <p14:creationId xmlns:p14="http://schemas.microsoft.com/office/powerpoint/2010/main" val="1363983350"/>
      </p:ext>
    </p:extLst>
  </p:cSld>
  <p:transition advClick="1" advTm="5800"/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7A01373C-886E-4685-9AE7-0C2CAFE2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STUDENT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643207E2-7B97-4F92-960A-CA189248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F27465-3E6B-4154-BE5A-D1F1CEAF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 tracking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e1d2ee9354c97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45D462CE-9D1A-43AD-B7CE-150A8BC2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Two PA applications and one TA application submitted successfully</a:t>
            </a:r>
          </a:p>
        </p:txBody>
      </p:sp>
    </p:spTree>
    <p:extLst>
      <p:ext uri="{BB962C8B-B14F-4D97-AF65-F5344CB8AC3E}">
        <p14:creationId xmlns:p14="http://schemas.microsoft.com/office/powerpoint/2010/main" val="265482891"/>
      </p:ext>
    </p:extLst>
  </p:cSld>
  <p:transition advClick="1" advTm="5467"/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B7AFA215-4C24-47A0-BA03-5CCEAD17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FACULTY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8260A697-F18E-475A-82C0-812DD71B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5E3698-AE32-456F-9AEF-9BABA8B9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Assigned faculty access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6527f6f65474f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F2B65609-CBEA-4740-80E3-D6073EE1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Only the assigned active-semester course is visible</a:t>
            </a:r>
          </a:p>
        </p:txBody>
      </p:sp>
    </p:spTree>
    <p:extLst>
      <p:ext uri="{BB962C8B-B14F-4D97-AF65-F5344CB8AC3E}">
        <p14:creationId xmlns:p14="http://schemas.microsoft.com/office/powerpoint/2010/main" val="1738741361"/>
      </p:ext>
    </p:extLst>
  </p:cSld>
  <p:transition advClick="1" advTm="6100"/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FAD0777C-5D80-4195-91AB-AE80C133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FACULTY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1483442E-E354-458C-A4E7-66F154FA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8B4E22-5257-40E2-9D2D-D3C5D509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 academic review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09138c82d4cc3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9B0FC181-5267-4A65-AC3A-7111D9C2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Academics, statement, timetable, and private review notes</a:t>
            </a:r>
          </a:p>
        </p:txBody>
      </p:sp>
    </p:spTree>
    <p:extLst>
      <p:ext uri="{BB962C8B-B14F-4D97-AF65-F5344CB8AC3E}">
        <p14:creationId xmlns:p14="http://schemas.microsoft.com/office/powerpoint/2010/main" val="1638746386"/>
      </p:ext>
    </p:extLst>
  </p:cSld>
  <p:transition advClick="1" advTm="6467"/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2AE380F8-D19D-489F-8CDC-8F5C300B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FACULTY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802CD3FD-CC6A-41AC-8AFF-531F6397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D633C1-1990-450E-AB3D-82666904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Shortlisting and capacity checks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ef5f0af134b65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BFC40978-F2CA-48F2-803C-EB10B028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Shortlisted → Selected pending acceptance → Accepted</a:t>
            </a:r>
          </a:p>
        </p:txBody>
      </p:sp>
    </p:spTree>
    <p:extLst>
      <p:ext uri="{BB962C8B-B14F-4D97-AF65-F5344CB8AC3E}">
        <p14:creationId xmlns:p14="http://schemas.microsoft.com/office/powerpoint/2010/main" val="1019896693"/>
      </p:ext>
    </p:extLst>
  </p:cSld>
  <p:transition advClick="1" advTm="5933"/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54886F34-27E2-490F-9500-BB61791A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FACULTY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A6D9F7E3-60ED-4664-9D1B-D92BD0C5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E38377-C1B1-411E-B59C-440855F2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 acceptance and automatic cancellation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a15ef4a054d5d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E8856EE9-F572-408E-B484-E41448D3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Appointment created; remaining same-role applications close automatically</a:t>
            </a:r>
          </a:p>
        </p:txBody>
      </p:sp>
    </p:spTree>
    <p:extLst>
      <p:ext uri="{BB962C8B-B14F-4D97-AF65-F5344CB8AC3E}">
        <p14:creationId xmlns:p14="http://schemas.microsoft.com/office/powerpoint/2010/main" val="926283988"/>
      </p:ext>
    </p:extLst>
  </p:cSld>
  <p:transition advClick="1" advTm="5367"/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3DED85E0-B98B-4513-BF62-AEBF9FC5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FACULTY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8C16DEE0-0E38-4E59-8E9D-220E8F7C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A2EE0F-4CB4-45C8-9BDE-FD767CF9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 interview schedule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b0dc8b4e74c25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C7942F85-6E76-4FE2-961B-77D561EB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Synthetic rehearsal: schedule an interview in Dubai time</a:t>
            </a:r>
          </a:p>
        </p:txBody>
      </p:sp>
    </p:spTree>
    <p:extLst>
      <p:ext uri="{BB962C8B-B14F-4D97-AF65-F5344CB8AC3E}">
        <p14:creationId xmlns:p14="http://schemas.microsoft.com/office/powerpoint/2010/main" val="1213027974"/>
      </p:ext>
    </p:extLst>
  </p:cSld>
  <p:transition advClick="1" advTm="5733"/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F1EA036D-5DAE-449B-B1AF-FF7BE490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FACULTY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5BB969FA-3DEB-4377-A8EA-1B78646C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1E7F60-88DE-47A7-9CD5-6BCBBA56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Interview evaluation and TA acceptance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2807824354dbf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C2A2C436-3AD8-4559-9949-B0DC3943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Demo evaluation required before selecting and accepting the TA</a:t>
            </a:r>
          </a:p>
        </p:txBody>
      </p:sp>
    </p:spTree>
    <p:extLst>
      <p:ext uri="{BB962C8B-B14F-4D97-AF65-F5344CB8AC3E}">
        <p14:creationId xmlns:p14="http://schemas.microsoft.com/office/powerpoint/2010/main" val="1019924256"/>
      </p:ext>
    </p:extLst>
  </p:cSld>
  <p:transition advClick="1" advTm="5733"/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0BC443D4-B96F-4ADE-8267-84E5C226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FACULTY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30D5F6B7-0AAC-4683-BE95-2141F7C1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F9E0BF-1DCC-4125-ADB0-698F67F9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Appointment submission to Admin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4972d5554c1d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12402005-1031-435E-A66B-991B9F46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One PA and one TA are permitted; both require final approval</a:t>
            </a:r>
          </a:p>
        </p:txBody>
      </p:sp>
    </p:spTree>
    <p:extLst>
      <p:ext uri="{BB962C8B-B14F-4D97-AF65-F5344CB8AC3E}">
        <p14:creationId xmlns:p14="http://schemas.microsoft.com/office/powerpoint/2010/main" val="421891879"/>
      </p:ext>
    </p:extLst>
  </p:cSld>
  <p:transition advClick="1" advTm="5200"/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A7FCDD05-6433-441C-98AE-D9C15E4A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ADMIN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55238310-3C2C-4E57-8F28-6EF9946B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AABEBD-88EF-4E7C-8B7F-46757DF1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 review and semester finalization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72807bd7c4bb7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745FCE87-89B5-4B70-A146-CA4ECF0B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Admin checks submitted appointments, capacity, and conflicts</a:t>
            </a:r>
          </a:p>
        </p:txBody>
      </p:sp>
    </p:spTree>
    <p:extLst>
      <p:ext uri="{BB962C8B-B14F-4D97-AF65-F5344CB8AC3E}">
        <p14:creationId xmlns:p14="http://schemas.microsoft.com/office/powerpoint/2010/main" val="1458463205"/>
      </p:ext>
    </p:extLst>
  </p:cSld>
  <p:transition advClick="1" advTm="6500"/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C473CAD0-59E8-4AC3-A75C-77D46366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ADMIN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502E77BB-7F19-4DBB-ABC9-A8442029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6B5A1C-4F96-420F-A938-521E34AA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selected list and exports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7254bcf774dfe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87B66A07-2A2E-43EE-A557-CA1F7ED0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Approved PA/TA results · Verified Excel and PDF downloads</a:t>
            </a:r>
          </a:p>
        </p:txBody>
      </p:sp>
    </p:spTree>
    <p:extLst>
      <p:ext uri="{BB962C8B-B14F-4D97-AF65-F5344CB8AC3E}">
        <p14:creationId xmlns:p14="http://schemas.microsoft.com/office/powerpoint/2010/main" val="1361102397"/>
      </p:ext>
    </p:extLst>
  </p:cSld>
  <p:transition advClick="1" advTm="5467"/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854ABBC5-FC6B-43B3-BFCD-6CA021E4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STUDENT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AD0DC595-9881-4B58-945E-093E97D2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E9271D-542D-466D-9AE9-9B4E243E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application outcomes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67f6f536f45df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2310E4A7-1D7F-433A-82A2-CCDEF1D0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Other PA auto-cancelled · Accepted PA and TA retained</a:t>
            </a:r>
          </a:p>
        </p:txBody>
      </p:sp>
    </p:spTree>
    <p:extLst>
      <p:ext uri="{BB962C8B-B14F-4D97-AF65-F5344CB8AC3E}">
        <p14:creationId xmlns:p14="http://schemas.microsoft.com/office/powerpoint/2010/main" val="1744816831"/>
      </p:ext>
    </p:extLst>
  </p:cSld>
  <p:transition advClick="1" advTm="6000"/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pter">
            <a:extLst xmlns:a="http://schemas.openxmlformats.org/drawingml/2006/main">
              <a:ext uri="{FF2B5EF4-FFF2-40B4-BE49-F238E27FC236}">
                <a16:creationId xmlns:a16="http://schemas.microsoft.com/office/drawing/2014/main" id="{5F78EA99-D9EA-41E4-93E1-40FBD2E5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WORKING DEMONSTRATION / STUDENT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54226CDF-F266-4B2C-B2E6-F23E0BD0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46C9F9-982D-45F1-BFF1-59924D4A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Personal approved results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2e77396434c01"/>
          <a:stretch xmlns:a="http://schemas.openxmlformats.org/drawingml/2006/main"/>
        </p:blipFill>
        <p:spPr>
          <a:xfrm xmlns:a="http://schemas.openxmlformats.org/drawingml/2006/main">
            <a:off x="1822961" y="1362075"/>
            <a:ext cx="8546079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2173CBFC-7E07-4771-A65B-82436DFD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Only the signed-in student's approved results are shown</a:t>
            </a:r>
          </a:p>
        </p:txBody>
      </p:sp>
    </p:spTree>
    <p:extLst>
      <p:ext uri="{BB962C8B-B14F-4D97-AF65-F5344CB8AC3E}">
        <p14:creationId xmlns:p14="http://schemas.microsoft.com/office/powerpoint/2010/main" val="1430433222"/>
      </p:ext>
    </p:extLst>
  </p:cSld>
  <p:transition advClick="1" advTm="4533"/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134710D3-D433-4BB8-B518-2E60685B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TECHNICAL CHOICES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E2FCEC66-75FD-4BEC-A694-43F3A050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E4DF89-DE79-4158-976B-32D17A12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Frontend, API and database</a:t>
            </a:r>
          </a:p>
        </p:txBody>
      </p:sp>
      <p:sp>
        <p:nvSpPr>
          <p:cNvPr id="4" name="frontend-label">
            <a:extLst xmlns:a="http://schemas.openxmlformats.org/drawingml/2006/main">
              <a:ext uri="{FF2B5EF4-FFF2-40B4-BE49-F238E27FC236}">
                <a16:creationId xmlns:a16="http://schemas.microsoft.com/office/drawing/2014/main" id="{1537DDE7-33DD-4180-896D-05D2FB6F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5" name="frontend-content">
            <a:extLst xmlns:a="http://schemas.openxmlformats.org/drawingml/2006/main">
              <a:ext uri="{FF2B5EF4-FFF2-40B4-BE49-F238E27FC236}">
                <a16:creationId xmlns:a16="http://schemas.microsoft.com/office/drawing/2014/main" id="{39249171-FD3C-4D56-ADE6-B63A5369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71700"/>
            <a:ext cx="7667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and Vite provide the role workspaces</a:t>
            </a:r>
          </a:p>
        </p:txBody>
      </p:sp>
      <p:sp>
        <p:nvSpPr>
          <p:cNvPr id="6" name="api-label">
            <a:extLst xmlns:a="http://schemas.openxmlformats.org/drawingml/2006/main">
              <a:ext uri="{FF2B5EF4-FFF2-40B4-BE49-F238E27FC236}">
                <a16:creationId xmlns:a16="http://schemas.microsoft.com/office/drawing/2014/main" id="{0C566C6A-4AA3-4B98-BE1D-D933E3CD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7" name="api-content">
            <a:extLst xmlns:a="http://schemas.openxmlformats.org/drawingml/2006/main">
              <a:ext uri="{FF2B5EF4-FFF2-40B4-BE49-F238E27FC236}">
                <a16:creationId xmlns:a16="http://schemas.microsoft.com/office/drawing/2014/main" id="{4A5A4BC5-3063-44EE-8E7F-8D58FA45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09950"/>
            <a:ext cx="7667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Express enforces access and workflow rules</a:t>
            </a:r>
          </a:p>
        </p:txBody>
      </p:sp>
      <p:sp>
        <p:nvSpPr>
          <p:cNvPr id="8" name="database-label">
            <a:extLst xmlns:a="http://schemas.openxmlformats.org/drawingml/2006/main">
              <a:ext uri="{FF2B5EF4-FFF2-40B4-BE49-F238E27FC236}">
                <a16:creationId xmlns:a16="http://schemas.microsoft.com/office/drawing/2014/main" id="{FD774C23-3452-4B78-9F3D-CD7E10DE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9" name="database-content">
            <a:extLst xmlns:a="http://schemas.openxmlformats.org/drawingml/2006/main">
              <a:ext uri="{FF2B5EF4-FFF2-40B4-BE49-F238E27FC236}">
                <a16:creationId xmlns:a16="http://schemas.microsoft.com/office/drawing/2014/main" id="{3E342375-5AAA-438F-A57E-B6B3AA4D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48200"/>
            <a:ext cx="7667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 transactions protect appointments</a:t>
            </a:r>
          </a:p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PGlite supports local embedded storage</a:t>
            </a:r>
          </a:p>
        </p:txBody>
      </p:sp>
    </p:spTree>
    <p:extLst>
      <p:ext uri="{BB962C8B-B14F-4D97-AF65-F5344CB8AC3E}">
        <p14:creationId xmlns:p14="http://schemas.microsoft.com/office/powerpoint/2010/main" val="209374333"/>
      </p:ext>
    </p:extLst>
  </p:cSld>
  <p:transition advClick="1" advTm="10300"/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hapter">
            <a:extLst xmlns:a="http://schemas.openxmlformats.org/drawingml/2006/main">
              <a:ext uri="{FF2B5EF4-FFF2-40B4-BE49-F238E27FC236}">
                <a16:creationId xmlns:a16="http://schemas.microsoft.com/office/drawing/2014/main" id="{406065A9-CA88-470E-9564-EC59A117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TECHNICAL CHOICES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06D8C077-2B84-430B-A623-E5A0FB71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EEB7B3-99B3-41DC-9975-565523B9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University authentication and academic sync</a:t>
            </a:r>
          </a:p>
        </p:txBody>
      </p:sp>
      <p:sp>
        <p:nvSpPr>
          <p:cNvPr id="4" name="Local access-heading">
            <a:extLst xmlns:a="http://schemas.openxmlformats.org/drawingml/2006/main">
              <a:ext uri="{FF2B5EF4-FFF2-40B4-BE49-F238E27FC236}">
                <a16:creationId xmlns:a16="http://schemas.microsoft.com/office/drawing/2014/main" id="{9AA55012-43A4-4747-A55E-F539FFDC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Local access</a:t>
            </a:r>
          </a:p>
        </p:txBody>
      </p:sp>
      <p:sp>
        <p:nvSpPr>
          <p:cNvPr id="5" name="Local access-body">
            <a:extLst xmlns:a="http://schemas.openxmlformats.org/drawingml/2006/main">
              <a:ext uri="{FF2B5EF4-FFF2-40B4-BE49-F238E27FC236}">
                <a16:creationId xmlns:a16="http://schemas.microsoft.com/office/drawing/2014/main" id="{1EA374C8-1ADC-46AD-979B-65181088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Hashed passwords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Signed cookies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Revocable database sessions</a:t>
            </a:r>
          </a:p>
        </p:txBody>
      </p:sp>
      <p:sp>
        <p:nvSpPr>
          <p:cNvPr id="6" name="Optional intranet interface-heading">
            <a:extLst xmlns:a="http://schemas.openxmlformats.org/drawingml/2006/main">
              <a:ext uri="{FF2B5EF4-FFF2-40B4-BE49-F238E27FC236}">
                <a16:creationId xmlns:a16="http://schemas.microsoft.com/office/drawing/2014/main" id="{782CFC11-83B0-4166-A094-1E7E424A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60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Optional intranet interface</a:t>
            </a:r>
          </a:p>
        </p:txBody>
      </p:sp>
      <p:sp>
        <p:nvSpPr>
          <p:cNvPr id="7" name="Optional intranet interface-body">
            <a:extLst xmlns:a="http://schemas.openxmlformats.org/drawingml/2006/main">
              <a:ext uri="{FF2B5EF4-FFF2-40B4-BE49-F238E27FC236}">
                <a16:creationId xmlns:a16="http://schemas.microsoft.com/office/drawing/2014/main" id="{B0F5AE27-F4D6-4F3A-ABC5-4EB2C8A9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52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Signed institutional assertions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 campus identity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Academic record synchronization</a:t>
            </a:r>
          </a:p>
        </p:txBody>
      </p:sp>
      <p:sp>
        <p:nvSpPr>
          <p:cNvPr id="8" name="integration-limit">
            <a:extLst xmlns:a="http://schemas.openxmlformats.org/drawingml/2006/main">
              <a:ext uri="{FF2B5EF4-FFF2-40B4-BE49-F238E27FC236}">
                <a16:creationId xmlns:a16="http://schemas.microsoft.com/office/drawing/2014/main" id="{EB65368F-841B-493B-B9BD-0A1B4A50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Live university integration remains to configure</a:t>
            </a:r>
          </a:p>
        </p:txBody>
      </p:sp>
    </p:spTree>
    <p:extLst>
      <p:ext uri="{BB962C8B-B14F-4D97-AF65-F5344CB8AC3E}">
        <p14:creationId xmlns:p14="http://schemas.microsoft.com/office/powerpoint/2010/main" val="54654388"/>
      </p:ext>
    </p:extLst>
  </p:cSld>
  <p:transition advClick="1" advTm="7800"/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hapter">
            <a:extLst xmlns:a="http://schemas.openxmlformats.org/drawingml/2006/main">
              <a:ext uri="{FF2B5EF4-FFF2-40B4-BE49-F238E27FC236}">
                <a16:creationId xmlns:a16="http://schemas.microsoft.com/office/drawing/2014/main" id="{4691C327-713D-4E72-841B-57B0F712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EXPECTED IMPACT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1E94F1E5-1FD1-4230-A55D-4F618500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68E2AC-716A-4302-82E5-FD901C45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impact</a:t>
            </a:r>
          </a:p>
        </p:txBody>
      </p:sp>
      <p:sp>
        <p:nvSpPr>
          <p:cNvPr id="4" name="impact-1">
            <a:extLst xmlns:a="http://schemas.openxmlformats.org/drawingml/2006/main">
              <a:ext uri="{FF2B5EF4-FFF2-40B4-BE49-F238E27FC236}">
                <a16:creationId xmlns:a16="http://schemas.microsoft.com/office/drawing/2014/main" id="{9D240AB5-DFF9-450A-BFD2-4B524FAB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Less repeated data entry</a:t>
            </a:r>
          </a:p>
        </p:txBody>
      </p:sp>
      <p:sp>
        <p:nvSpPr>
          <p:cNvPr id="5" name="impact-2">
            <a:extLst xmlns:a="http://schemas.openxmlformats.org/drawingml/2006/main">
              <a:ext uri="{FF2B5EF4-FFF2-40B4-BE49-F238E27FC236}">
                <a16:creationId xmlns:a16="http://schemas.microsoft.com/office/drawing/2014/main" id="{5322E000-4259-48FF-8C93-1287E1A3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Organized reviews and clearer application status</a:t>
            </a:r>
          </a:p>
        </p:txBody>
      </p:sp>
      <p:sp>
        <p:nvSpPr>
          <p:cNvPr id="6" name="impact-3">
            <a:extLst xmlns:a="http://schemas.openxmlformats.org/drawingml/2006/main">
              <a:ext uri="{FF2B5EF4-FFF2-40B4-BE49-F238E27FC236}">
                <a16:creationId xmlns:a16="http://schemas.microsoft.com/office/drawing/2014/main" id="{94FCB6A7-916A-4CF0-8349-42E3346E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Saved approvals and exportable final lists</a:t>
            </a:r>
          </a:p>
        </p:txBody>
      </p:sp>
      <p:sp>
        <p:nvSpPr>
          <p:cNvPr id="7" name="impact-limit">
            <a:extLst xmlns:a="http://schemas.openxmlformats.org/drawingml/2006/main">
              <a:ext uri="{FF2B5EF4-FFF2-40B4-BE49-F238E27FC236}">
                <a16:creationId xmlns:a16="http://schemas.microsoft.com/office/drawing/2014/main" id="{17171A63-1910-43B1-8685-8B674F93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Expected benefits, with no measured time-savings claim</a:t>
            </a:r>
          </a:p>
        </p:txBody>
      </p:sp>
    </p:spTree>
    <p:extLst>
      <p:ext uri="{BB962C8B-B14F-4D97-AF65-F5344CB8AC3E}">
        <p14:creationId xmlns:p14="http://schemas.microsoft.com/office/powerpoint/2010/main" val="673644365"/>
      </p:ext>
    </p:extLst>
  </p:cSld>
  <p:transition advClick="1" advTm="7300"/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hapter">
            <a:extLst xmlns:a="http://schemas.openxmlformats.org/drawingml/2006/main">
              <a:ext uri="{FF2B5EF4-FFF2-40B4-BE49-F238E27FC236}">
                <a16:creationId xmlns:a16="http://schemas.microsoft.com/office/drawing/2014/main" id="{C8B86E00-0CD1-4548-931D-0286AD1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IMPACT + NEXT STEPS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AE681458-7791-4F2A-B8AF-E0AA045A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Presenter 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C313CD-3FE5-4B71-A3CF-5C3C45A0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scope and next steps</a:t>
            </a:r>
          </a:p>
        </p:txBody>
      </p:sp>
      <p:sp>
        <p:nvSpPr>
          <p:cNvPr id="4" name="Current demonstration-heading">
            <a:extLst xmlns:a="http://schemas.openxmlformats.org/drawingml/2006/main">
              <a:ext uri="{FF2B5EF4-FFF2-40B4-BE49-F238E27FC236}">
                <a16:creationId xmlns:a16="http://schemas.microsoft.com/office/drawing/2014/main" id="{A49C2AA1-F797-447B-96E6-B9BC083A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Current demonstration</a:t>
            </a:r>
          </a:p>
        </p:txBody>
      </p:sp>
      <p:sp>
        <p:nvSpPr>
          <p:cNvPr id="5" name="Current demonstration-body">
            <a:extLst xmlns:a="http://schemas.openxmlformats.org/drawingml/2006/main">
              <a:ext uri="{FF2B5EF4-FFF2-40B4-BE49-F238E27FC236}">
                <a16:creationId xmlns:a16="http://schemas.microsoft.com/office/drawing/2014/main" id="{D59C99FA-0F91-4F96-96E0-CEBDB2E5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 local prototype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Synthetic academic records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application and selection flow</a:t>
            </a:r>
          </a:p>
        </p:txBody>
      </p:sp>
      <p:sp>
        <p:nvSpPr>
          <p:cNvPr id="6" name="Next steps-heading">
            <a:extLst xmlns:a="http://schemas.openxmlformats.org/drawingml/2006/main">
              <a:ext uri="{FF2B5EF4-FFF2-40B4-BE49-F238E27FC236}">
                <a16:creationId xmlns:a16="http://schemas.microsoft.com/office/drawing/2014/main" id="{22273999-265C-4FF8-A041-A6FCDCAF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383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7" name="Next steps-body">
            <a:extLst xmlns:a="http://schemas.openxmlformats.org/drawingml/2006/main">
              <a:ext uri="{FF2B5EF4-FFF2-40B4-BE49-F238E27FC236}">
                <a16:creationId xmlns:a16="http://schemas.microsoft.com/office/drawing/2014/main" id="{A53227E3-C093-4FC9-96FB-DB0A349E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05125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Configure university sign-in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Set up production hosting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 duty timetable-overlap detection</a:t>
            </a:r>
          </a:p>
        </p:txBody>
      </p:sp>
      <p:sp>
        <p:nvSpPr>
          <p:cNvPr id="8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EAB30B42-9A9B-4058-A741-65821173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5EE7E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5EE7E0"/>
                </a:solidFill>
                <a:latin typeface="Arial"/>
                <a:ea typeface="Arial"/>
                <a:cs typeface="Arial"/>
              </a:rPr>
              <a:t>Applications and approved results in one place</a:t>
            </a:r>
          </a:p>
        </p:txBody>
      </p:sp>
    </p:spTree>
    <p:extLst>
      <p:ext uri="{BB962C8B-B14F-4D97-AF65-F5344CB8AC3E}">
        <p14:creationId xmlns:p14="http://schemas.microsoft.com/office/powerpoint/2010/main" val="1380297201"/>
      </p:ext>
    </p:extLst>
  </p:cSld>
  <p:transition advClick="1" advTm="9467"/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2026-10-03T03:58:43.0080000Z</dcterms:created>
  <dcterms:modified xsi:type="dcterms:W3CDTF">2026-10-03T03:58:43.0080000Z</dcterms:modified>
</coreProperties>
</file>